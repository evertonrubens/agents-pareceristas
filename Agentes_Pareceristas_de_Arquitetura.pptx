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Estamos aqui para falar sobre como os Agentes Pareceristas de Arquitetura podem revolucionar nossas homologações. Nosso foco é acelerar esses processos, mas sempre com um olhar atento à governança e à rastreabilidade, usando inteligência artificial de forma responsável. Queremos introduzir uma nova camada de análise técnica que mantém o humano no controle, entrega pareceres rastreáveis e nos permite escalar com segurança. Essa abordagem nos ajuda a garantir que a inovação não comprometa a qualidade e a conformidade. Agora, vamos entender por que essa escala com segurança é tão crucial para nós.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Nossa homologação precisa escalar com segurança, e esse é um desafio central para a instituição. Hoje, dependemos de leitura técnica aprofundada, evidências documentais e a colaboração de múltiplas áreas especialistas. O grande gargalo é acelerar sem comprometer a governança, a segurança ou a qualidade das decisões. Documentos chegam em formatos e níveis de maturidade muito diferentes, e a ausência de padronização aumenta o tempo de ciclo e dificulta a rastreabilidade. Nosso objetivo é transformar essa análise documental em um subsídio técnico consistente e ágil. Mas é importante ressaltar que essa solução não substitui a decisão humana, ela a apoia.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fundamental entender que a solução que propomos apoia, mas não substitui, a decisão humana. Os agentes pareceristas são uma camada especializada de análise assistida por IA, desenhada para organizar evidências, identificar lacunas e gerar pareceres técnicos. No entanto, a emissão final sempre depende de uma confirmação explícita do usuário. O agente analisa os documentos e critérios, mas o humano revisa, decide e autoriza. O processo institucional continua sendo a fonte de autoridade, garantindo que o controle permaneça conosco. E para cobrir todas as frentes, organizamos essa análise em cinco domínios críticos.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cobrir os domínios críticos da homologação, organizamos a análise em cinco agentes especializados. Cada um atua como um parecerista em sua área, permitindo uma avaliação técnica aprofundada e a consolidação de riscos. Temos agentes focados em Infraestrutura de TI, Negócios e Soluções, Segurança da Informação, Arquitetura de Dados e, claro, um COE de IA. Essa especialização aumenta a consistência e a rastreabilidade dos pareceres, resultando em um dossiê de homologação mais completo e com recomendações acionáveis. Agora, vamos ver como essa jornada se desenrola em sete passos controlados.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jornada com os agentes pareceristas é estruturada em sete passos controlados, desenhada para ser simples para o usuário e rigorosa para a governança. Começamos com o usuário contextualizando a demanda e enviando os documentos. Em seguida, o usuário autoriza explicitamente a análise, e só então o agente realiza a análise prévia, identificando evidências e lacunas. O passo crucial é a revisão e decisão humana, onde o usuário valida os achados e aprova a emissão do parecer. A geração do parecer pelo agente só ocorre após essa autorização, e o usuário finaliza anexando o parecer ao processo. Esse controle explícito garante que a decisão final seja sempre humana e institucional. E para tornar esse parecer ainda mais rastreável, usamos uma arquitetura específica.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rastreabilidade é fundamental para a confiança em qualquer processo decisório, e com a IA generativa, isso se torna ainda mais crítico. O RAG, ou Retrieval-Augmented Generation, é a arquitetura que nos permite conectar os modelos generativos a uma base de conhecimento governada. Isso significa que o parecer gerado não é uma mera inferência do modelo, mas sim uma análise fundamentada em documentos, normas e critérios institucionais. Essa abordagem garante que cada conclusão tenha uma evidência clara e auditável, fortalecendo a justificativa técnica. E isso nos leva a como a governança é essencial para mitigar os riscos inerentes à IA generativa.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governança é a espinha dorsal para mitigar os riscos da IA generativa, especialmente em um contexto de homologação. Não basta ter um modelo fluente; precisamos de controles explícitos que garantam a segurança e a confiabilidade do processo. Isso inclui proteger contra prompt injection, evitar vazamento de dados e, crucialmente, combater a confiança excessiva e a agência indevida do modelo. A revisão humana obrigatória e a exigência de evidências para cada conclusão são controles essenciais. E para que essa governança funcione, precisamos de clareza nas responsabilidades, o que nos leva à matriz RACI.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matriz RACI é a ferramenta que nos permite clarificar as responsabilidades em cada etapa do processo, garantindo que o humano permaneça no controle da decisão. Ela define quem executa, quem é responsável, quem deve ser consultado e quem deve ser informado, eliminando ambiguidades. O agente parecerista apoia a análise, mas a responsabilidade final e a autorização explícita são sempre humanas. Essa clareza é vital para a governança operacional. E ao ter essa governança bem definida, podemos então quantificar o valor que essa solução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valor dessa solução se manifesta diretamente na eficiência e na qualidade dos nossos processos de homologação. Reduzimos o esforço manual de leitura preliminar, permitindo que nossos especialistas foquem em exceções e riscos críticos. Padronizamos os critérios de análise por domínio, o que torna os pareceres mais consistentes e comparáveis. Além disso, aumentamos a auditabilidade, pois cada conclusão é sustentada por evidências claras, lacunas identificadas e inferências explícitas. E o mais importante, geramos dados para a melhoria contínua de nossos processos e políticas. Mas para maximizar esse valor, precisamos usar a ferramenta no momento certo.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momento ideal para utilizar os agentes pareceristas é antes da decisão formal, quando ainda há tempo para agir sobre as informações. O maior valor é gerado quando existe um dossiê documental mínimo, permitindo uma análise estruturada. Isso significa que, na fase de ideação, o uso é parcial, sem um parecer final. Em RFI/RFP, ele oferece um apoio exploratório. Mas o ponto ótimo é quando o dossiê é recebido e, crucialmente, antes do comitê de homologação. Isso nos permite subsidiar a decisão com rastreabilidade e mitigar riscos a tempo. Essa abordagem garante que a ferramenta seja um facilitador, e não um gargalo.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que a análise dos agentes seja realmente útil, o parecer final precisa ser padronizado. Isso permite que a gente compare homologações e reduza ambiguidades técnicas. Um parecer consistente deve ter uma estrutura mínima, com critérios explícitos e uma separação clara entre o que é evidência documentada, o que é uma lacuna identificada, qual o risco técnico e qual a recomendação humana. A padronização garante que cada conclusão relevante aponte para a evidência que a sustenta, aumentando a rastreabilidade. Isso também registra os limites e incertezas, reforçando a necessidade da revisão humana antes da decisão final. Um bom parecer não é só um texto bem escrito; é um registro decisório auditável, sustentado por critérios, evidências e revisão humana. Agora, vamos falar sobre como garantir que essa ferramenta seja bem adotada pela organização.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adoção dessa solução não é apenas sobre tecnologia; ela exige uma comunicação institucional clara e eficaz. Precisamos de um ponto oficial de orientação, como uma página no Confluence, para reduzir o uso inadequado e alinhar as expectativas. Essa página deve explicar quem pode usar os agentes, quando usá-los, quais documentos são necessários e quais são os limites da ferramenta. O objetivo é transformar uma ferramenta de IA em uma prática institucional segura, compreensível e auditável. É fundamental reforçar que o agente estrutura evidências e recomendações, mas não substitui a decisão humana. A adoção sustentável depende tanto da tecnologia quanto da comunicação, treinamento e governança operacional. Com isso em mente, vamos ver os próximos passos para a institucionalização.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a padronização dos pareceres e a comunicação institucional em mente, precisamos de um plano claro para a evolução. A implantação deve ocorrer em ondas, começando pela governança mínima e avançando para métricas e integração. No curto prazo, a prioridade é a governança mínima operacional, estabilizando o uso com regras claras, templates e a revisão humana obrigatória. Em médio prazo, focaremos em dashboards e qualidade mensurável, transformando o uso e os riscos em indicadores para a melhoria contínua. E, a longo prazo, buscaremos a integração ao workflow institucional, conectando os pareceres ao fluxo oficial de homologação e auditoria. A maturidade dos agentes deve crescer junto com a governança, as métricas e a responsabilidade institucional. Para tudo isso, contamos com uma base sólida de referências técnicas.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essa proposta foi estruturada com base em referências técnicas essenciais, garantindo uma fundação sólida para a governança de IA. Utilizamos o NIST AI Risk Management Framework e a ISO/IEC 42001 para mapear, gerenciar e governar os riscos da IA, incluindo controles específicos para a IA generativa. Para a segurança dos LLMs, nos baseamos no OWASP Top 10, que nos ajuda a tratar riscos como prompt injection e vazamento de dados. Além disso, o conceito de Retrieval-Augmented Generation, ou RAG, é fundamental para conectar a geração por LLM a fontes recuperadas, melhorando a contextualização e a rastreabilidade dos pareceres. Essas referências nos permitem converter fontes em critérios, mapear riscos para validações e registrar evidências para auditoria. Agora, para finalizar, quero agradecer a atenção de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Chegamos ao fim da nossa apresentação. Quero reforçar que os agentes pareceristas devem acelerar a análise, preservar a governança e ampliar a qualidade da decisão institucional. A IA, com governança, é um apoio fundamental à decisão, mas nunca substitui a responsabilidade humana. Fico à disposição para discussões técnicas, para a evolução desse framework e para os próximos passos de adoção. Agradeço a todos pela atenção e pelo tempo dedicado.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7213" y="1641751"/>
            <a:ext cx="4572000" cy="95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3300" b="1" spc="-2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Agentes Pareceristas de Arquitetura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557213" y="2778444"/>
            <a:ext cx="4643438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Acelerando homologações com IA, governança e rastreabilidade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57213" y="3828576"/>
            <a:ext cx="464985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Everton R Martins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207068" y="1091933"/>
            <a:ext cx="3436841" cy="3459668"/>
          </a:xfrm>
          <a:prstGeom prst="rect">
            <a:avLst/>
          </a:prstGeom>
          <a:solidFill>
            <a:srgbClr val="FFFFFF"/>
          </a:solidFill>
          <a:ln w="18288">
            <a:solidFill>
              <a:srgbClr val="CBD5E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35681" y="1377683"/>
            <a:ext cx="2808191" cy="83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Uma nova camada de análise técnica institucional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5535681" y="2722801"/>
            <a:ext cx="280819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0057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PRINCÍPIO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5535681" y="2887107"/>
            <a:ext cx="280819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0057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HUMANO NO CONTROLE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5535681" y="3315732"/>
            <a:ext cx="280819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0057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ENTREGA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5535681" y="3480039"/>
            <a:ext cx="280819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0057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PARECER RASTREÁVEL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5535681" y="3908664"/>
            <a:ext cx="280819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0057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VALOR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5535681" y="4072970"/>
            <a:ext cx="280819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0057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ESCALA COM SEGURANÇA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2925" y="400050"/>
            <a:ext cx="80581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CONTEXTO ESTRATÉGICO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42925" y="650081"/>
            <a:ext cx="6786563" cy="304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9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 homologação precisa escalar com segurança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542925" y="1489890"/>
            <a:ext cx="3433270" cy="108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55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 instituição precisa </a:t>
            </a:r>
            <a:r>
              <a:rPr lang="en-US" sz="155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acelerar a </a:t>
            </a:r>
            <a:r>
              <a:rPr lang="en-US" sz="155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análise documental</a:t>
            </a:r>
            <a:r>
              <a:rPr lang="en-US" sz="155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 sem perder </a:t>
            </a:r>
            <a:r>
              <a:rPr lang="en-US" sz="155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governança, segurança ou </a:t>
            </a:r>
            <a:r>
              <a:rPr lang="en-US" sz="155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qualidade decisória.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42925" y="2770519"/>
            <a:ext cx="3357563" cy="752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homologação moderna envolve evidências técnicas, comerciais, arquiteturais, regulatórias e operacionais. O gargalo não é apenas ler documentos; é transformar documentos em decisão sustentada.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404820" y="1582759"/>
            <a:ext cx="1464469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Documentos heterogêneos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040738" y="1582759"/>
            <a:ext cx="2560337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Propostas, evidências, anexos e imagens chegam em formatos e maturidades diferentes.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404820" y="2339997"/>
            <a:ext cx="1464469" cy="49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Múltiplas áreas especialistas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040738" y="2339997"/>
            <a:ext cx="2560337" cy="49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Arquitetura, segurança, dados, IA, negócio e governança avaliam perspectivas complementares.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4404820" y="3101504"/>
            <a:ext cx="1464469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Rastreabilidade difícil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040738" y="3101504"/>
            <a:ext cx="2560337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evidências consolidadas, pareceres ficam menos comparáveis e mais difíceis de auditar.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404820" y="3858741"/>
            <a:ext cx="1464469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Pressão por velocidade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040738" y="3858741"/>
            <a:ext cx="2560337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demanda do negócio exige ciclos mais curtos, mas sem aceitar homologações frágeis.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42925" y="4665985"/>
            <a:ext cx="8058150" cy="228600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Tese do deck: acelerar homologação exige IA com critério, evidência e humano no controle.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2925" y="385763"/>
            <a:ext cx="80581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PRINCÍPIO OPERACIONAL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42925" y="635794"/>
            <a:ext cx="6572250" cy="304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9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 solução apoia, não substitui, a decisão humana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542925" y="1082697"/>
            <a:ext cx="664368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agentes pareceristas organizam evidências, aplicam critérios e recomendam caminhos. A responsabilidade decisória permanece humana e institucional.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42925" y="2054247"/>
            <a:ext cx="187523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01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42925" y="2275703"/>
            <a:ext cx="1875234" cy="202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Agente analisa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2925" y="2578001"/>
            <a:ext cx="1875234" cy="481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Lê documentos, extrai evidências, identifica lacunas e aplica critérios por domínio.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2603897" y="2054247"/>
            <a:ext cx="187523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02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2603897" y="2275703"/>
            <a:ext cx="1875234" cy="202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Humano revisa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603897" y="2578001"/>
            <a:ext cx="1875234" cy="642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 achados, questiona premissas e solicita complementações quando necessário.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664869" y="2054247"/>
            <a:ext cx="187523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03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4664869" y="2275703"/>
            <a:ext cx="1875234" cy="202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Humano autoriza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64869" y="2578001"/>
            <a:ext cx="1875234" cy="481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geração do parecer final só ocorre após confirmação explícita do usuário responsável.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725841" y="2054247"/>
            <a:ext cx="187523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04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6725841" y="2275703"/>
            <a:ext cx="1875234" cy="202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Processo decide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725841" y="2578001"/>
            <a:ext cx="1875234" cy="481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parecer subsidia o rito institucional de homologação, sem substituí-lo.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42925" y="3568722"/>
            <a:ext cx="8058150" cy="74295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20" name="Text 16"/>
          <p:cNvSpPr/>
          <p:nvPr/>
        </p:nvSpPr>
        <p:spPr>
          <a:xfrm>
            <a:off x="771525" y="3806251"/>
            <a:ext cx="2370832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b="1" spc="-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Controle essencial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3142357" y="3753762"/>
            <a:ext cx="5215830" cy="37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Nenhum parecer final deve ser emitido sem revisão humana e registro claro da autorização.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4350" y="342900"/>
            <a:ext cx="81153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COBERTURA ESPECIALIZADA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14350" y="550069"/>
            <a:ext cx="6429375" cy="2985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9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Cinco agentes cobrem os domínios críticos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514350" y="934380"/>
            <a:ext cx="7072313" cy="37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agente atua como parecerista especializado em um recorte da homologação, permitindo análise técnica por domínio e consolidação objetiva de riscos, lacunas e recomendações.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14350" y="1743940"/>
            <a:ext cx="1500188" cy="1481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Infraestrutura de TI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2143125" y="1675098"/>
            <a:ext cx="3318272" cy="285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Robustez operacional:</a:t>
            </a: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disponibilidade, DR, conectividade segura, </a:t>
            </a: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escalabilidade, observabilidade, backup, SLA e continuidade.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514350" y="2201140"/>
            <a:ext cx="1500188" cy="1481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Negócios e Soluções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2143125" y="2132298"/>
            <a:ext cx="3318272" cy="285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Aderência institucional:</a:t>
            </a: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cobertura funcional, escalabilidade, </a:t>
            </a: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aderência técnica e aderência ao objetivo de negócio.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514350" y="2584279"/>
            <a:ext cx="1500188" cy="296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Segurança da Informação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2143125" y="2589498"/>
            <a:ext cx="3318272" cy="285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Maturidade de segurança:</a:t>
            </a: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controles críticos, riscos, evidências, </a:t>
            </a: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lacunas e classificação Alta, Média ou Baixa.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514350" y="3115540"/>
            <a:ext cx="1500188" cy="1481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Arquitetura de Dados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2143125" y="3046698"/>
            <a:ext cx="3318272" cy="285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Governança de dados:</a:t>
            </a: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requisitos aplicáveis, conformidade com IN </a:t>
            </a: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1431 e IN 1432, tratamento, integração e armazenamento.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514350" y="3572740"/>
            <a:ext cx="1500188" cy="1481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COE de IA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2143125" y="3503898"/>
            <a:ext cx="3318272" cy="285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IA responsável:</a:t>
            </a: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LLMs, RAG, MCP, A2A, IA Gateway, limites de </a:t>
            </a: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autonomia, observabilidade e governança.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5661422" y="1700157"/>
            <a:ext cx="296822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Interface orientada por especialidade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661422" y="1932329"/>
            <a:ext cx="2714625" cy="426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experiência direciona o usuário ao agente adequado e torna visíveis as áreas de atuação disponíveis para análise.</a:t>
            </a:r>
            <a:endParaRPr lang="en-US" sz="7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422" y="2444083"/>
            <a:ext cx="2571750" cy="107156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61422" y="3694240"/>
            <a:ext cx="2968228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SÍNTESE EXECUTIVA</a:t>
            </a:r>
            <a:endParaRPr lang="en-US" sz="650" dirty="0"/>
          </a:p>
        </p:txBody>
      </p:sp>
      <p:sp>
        <p:nvSpPr>
          <p:cNvPr id="21" name="Text 16"/>
          <p:cNvSpPr/>
          <p:nvPr/>
        </p:nvSpPr>
        <p:spPr>
          <a:xfrm>
            <a:off x="5661422" y="3849616"/>
            <a:ext cx="2968228" cy="50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Especialização aumenta consistência, comparabilidade e rastreabilidade dos pareceres.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14350" y="4501651"/>
            <a:ext cx="8115300" cy="414338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23" name="Text 18"/>
          <p:cNvSpPr/>
          <p:nvPr/>
        </p:nvSpPr>
        <p:spPr>
          <a:xfrm>
            <a:off x="685800" y="4528077"/>
            <a:ext cx="7772400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 esperado: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85800" y="4735246"/>
            <a:ext cx="7772400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dossiê de homologação mais completo, com evidências organizadas por domínio e recomendações acionáveis.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357188"/>
            <a:ext cx="8143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PROCESSO OPERACIONAL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00063" y="592931"/>
            <a:ext cx="6429375" cy="296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85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 jornada tem sete passos controlados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00063" y="1017538"/>
            <a:ext cx="7000875" cy="365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experiência deve ser simples para o usuário e rigorosa para a governança, separando autorização, análise prévia, revisão humana e emissão final do parecer.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14350" y="1925631"/>
            <a:ext cx="106134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01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14350" y="2175663"/>
            <a:ext cx="106134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Saudação e contexto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14350" y="2525706"/>
            <a:ext cx="1061349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USUÁRIO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514350" y="2692859"/>
            <a:ext cx="1061349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 a demanda, o tipo de homologação e o objetivo da análise.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689999" y="1925631"/>
            <a:ext cx="106134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02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689999" y="2175663"/>
            <a:ext cx="106134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Envio de documentos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689999" y="2525706"/>
            <a:ext cx="1061349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USUÁRIO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1689999" y="2692859"/>
            <a:ext cx="1061349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Carrega proposta técnica, proposta comercial, evidências e anexos.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2865648" y="1925631"/>
            <a:ext cx="106134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03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2865648" y="2175663"/>
            <a:ext cx="106134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Confirmação da análise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865648" y="2525706"/>
            <a:ext cx="1061349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USUÁRIO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2865648" y="2692859"/>
            <a:ext cx="1061349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Autoriza explicitamente o processamento do dossiê documental.</a:t>
            </a:r>
            <a:endParaRPr lang="en-US" sz="650" dirty="0"/>
          </a:p>
        </p:txBody>
      </p:sp>
      <p:sp>
        <p:nvSpPr>
          <p:cNvPr id="19" name="Text 15"/>
          <p:cNvSpPr/>
          <p:nvPr/>
        </p:nvSpPr>
        <p:spPr>
          <a:xfrm>
            <a:off x="4041298" y="1925631"/>
            <a:ext cx="106137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04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041298" y="2175663"/>
            <a:ext cx="1061377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Análise prévia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041298" y="2525706"/>
            <a:ext cx="1061377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AGENTE</a:t>
            </a:r>
            <a:endParaRPr lang="en-US" sz="600" dirty="0"/>
          </a:p>
        </p:txBody>
      </p:sp>
      <p:sp>
        <p:nvSpPr>
          <p:cNvPr id="22" name="Text 18"/>
          <p:cNvSpPr/>
          <p:nvPr/>
        </p:nvSpPr>
        <p:spPr>
          <a:xfrm>
            <a:off x="4041298" y="2692859"/>
            <a:ext cx="1061377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Extrai evidências, aplica critérios, identifica riscos e lacunas.</a:t>
            </a:r>
            <a:endParaRPr lang="en-US" sz="650" dirty="0"/>
          </a:p>
        </p:txBody>
      </p:sp>
      <p:sp>
        <p:nvSpPr>
          <p:cNvPr id="23" name="Text 19"/>
          <p:cNvSpPr/>
          <p:nvPr/>
        </p:nvSpPr>
        <p:spPr>
          <a:xfrm>
            <a:off x="5216975" y="1925631"/>
            <a:ext cx="106134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05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5216975" y="2175663"/>
            <a:ext cx="106134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Revisão e decisão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5216975" y="2525706"/>
            <a:ext cx="1061349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USUÁRIO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5216975" y="2692859"/>
            <a:ext cx="1061349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 achados, solicita ajustes ou aprova a emissão do parecer.</a:t>
            </a:r>
            <a:endParaRPr lang="en-US" sz="650" dirty="0"/>
          </a:p>
        </p:txBody>
      </p:sp>
      <p:sp>
        <p:nvSpPr>
          <p:cNvPr id="27" name="Text 23"/>
          <p:cNvSpPr/>
          <p:nvPr/>
        </p:nvSpPr>
        <p:spPr>
          <a:xfrm>
            <a:off x="6392624" y="1925631"/>
            <a:ext cx="106134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06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6392624" y="2175663"/>
            <a:ext cx="106134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Geração do parecer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6392624" y="2525706"/>
            <a:ext cx="1061349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AGENTE</a:t>
            </a:r>
            <a:endParaRPr lang="en-US" sz="600" dirty="0"/>
          </a:p>
        </p:txBody>
      </p:sp>
      <p:sp>
        <p:nvSpPr>
          <p:cNvPr id="30" name="Text 26"/>
          <p:cNvSpPr/>
          <p:nvPr/>
        </p:nvSpPr>
        <p:spPr>
          <a:xfrm>
            <a:off x="6392624" y="2692859"/>
            <a:ext cx="1061349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Produz parecer técnico final somente após autorização humana.</a:t>
            </a:r>
            <a:endParaRPr lang="en-US" sz="650" dirty="0"/>
          </a:p>
        </p:txBody>
      </p:sp>
      <p:sp>
        <p:nvSpPr>
          <p:cNvPr id="31" name="Text 27"/>
          <p:cNvSpPr/>
          <p:nvPr/>
        </p:nvSpPr>
        <p:spPr>
          <a:xfrm>
            <a:off x="7568273" y="1925631"/>
            <a:ext cx="106134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07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7568273" y="2175663"/>
            <a:ext cx="106134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Recebimento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7568273" y="2525706"/>
            <a:ext cx="1061349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USUÁRIO</a:t>
            </a:r>
            <a:endParaRPr lang="en-US" sz="600" dirty="0"/>
          </a:p>
        </p:txBody>
      </p:sp>
      <p:sp>
        <p:nvSpPr>
          <p:cNvPr id="34" name="Text 30"/>
          <p:cNvSpPr/>
          <p:nvPr/>
        </p:nvSpPr>
        <p:spPr>
          <a:xfrm>
            <a:off x="7568273" y="2692859"/>
            <a:ext cx="1061349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Anexa o parecer ao dossiê e encaminha ao rito institucional.</a:t>
            </a:r>
            <a:endParaRPr lang="en-US" sz="650" dirty="0"/>
          </a:p>
        </p:txBody>
      </p:sp>
      <p:sp>
        <p:nvSpPr>
          <p:cNvPr id="35" name="Text 31"/>
          <p:cNvSpPr/>
          <p:nvPr/>
        </p:nvSpPr>
        <p:spPr>
          <a:xfrm>
            <a:off x="628650" y="3550109"/>
            <a:ext cx="253929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Responsabilidade primária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628650" y="3742990"/>
            <a:ext cx="2539296" cy="275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usuário conduz contexto, documentos, autorização, revisão e aceite do resultado final.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3432265" y="3550109"/>
            <a:ext cx="240579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Responsabilidade do agente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3432265" y="3742990"/>
            <a:ext cx="2405797" cy="275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agente executa análise estruturada e gera o parecer apenas quando autorizado.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6102381" y="3550109"/>
            <a:ext cx="241296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Controle de governança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6102381" y="3742990"/>
            <a:ext cx="2412969" cy="275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confirmação explícita cria trilha de decisão e impede emissão automática de parecer.</a:t>
            </a:r>
            <a:endParaRPr lang="en-US" sz="750" dirty="0"/>
          </a:p>
        </p:txBody>
      </p:sp>
      <p:sp>
        <p:nvSpPr>
          <p:cNvPr id="41" name="Shape 37"/>
          <p:cNvSpPr/>
          <p:nvPr/>
        </p:nvSpPr>
        <p:spPr>
          <a:xfrm>
            <a:off x="500063" y="4485940"/>
            <a:ext cx="1357313" cy="328613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42" name="Text 38"/>
          <p:cNvSpPr/>
          <p:nvPr/>
        </p:nvSpPr>
        <p:spPr>
          <a:xfrm>
            <a:off x="500063" y="4485940"/>
            <a:ext cx="1357313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PONTO CRÍTICO</a:t>
            </a:r>
            <a:endParaRPr lang="en-US" sz="700" dirty="0"/>
          </a:p>
        </p:txBody>
      </p:sp>
      <p:sp>
        <p:nvSpPr>
          <p:cNvPr id="43" name="Text 39"/>
          <p:cNvSpPr/>
          <p:nvPr/>
        </p:nvSpPr>
        <p:spPr>
          <a:xfrm>
            <a:off x="2014538" y="4535807"/>
            <a:ext cx="6629400" cy="228879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ct val="1088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análise automatizada é um subsídio técnico. A decisão permanece humana e vinculada ao processo institucional de homologação.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2925" y="385763"/>
            <a:ext cx="80581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ARQUITETURA DE CONFIANÇA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42925" y="621506"/>
            <a:ext cx="6572250" cy="304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9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RAG torna o parecer mais rastreável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542925" y="1054122"/>
            <a:ext cx="6715125" cy="385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camada de recuperação conecta documentos, normas e critérios à análise do agente, reduzindo respostas genéricas e fortalecendo a justificativa técnica do parecer.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42925" y="1832456"/>
            <a:ext cx="24860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ENTRADA GOVERNADA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542925" y="2030695"/>
            <a:ext cx="24860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Fontes e evidências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42925" y="2559332"/>
            <a:ext cx="2400300" cy="47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4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agente parte de documentos enviados, critérios institucionais, checklists e normas versionadas.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542925" y="3205786"/>
            <a:ext cx="2486025" cy="218415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Propostas técnicas e comerciais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542925" y="3495638"/>
            <a:ext cx="2486025" cy="218415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Políticas, INs, critérios e templates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3028950" y="1675293"/>
            <a:ext cx="300038" cy="2143125"/>
          </a:xfrm>
          <a:prstGeom prst="rect">
            <a:avLst/>
          </a:prstGeom>
          <a:noFill/>
          <a:ln/>
        </p:spPr>
        <p:txBody>
          <a:bodyPr wrap="none" lIns="0" tIns="47625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328988" y="1832456"/>
            <a:ext cx="24860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RECUPERAÇÃO CONTEXTUAL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3328988" y="2030695"/>
            <a:ext cx="24860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RAG aplicado ao domínio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328988" y="2559332"/>
            <a:ext cx="2400300" cy="47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4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busca recupera trechos relevantes e entrega contexto verificável para o agente especialista.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328988" y="3205786"/>
            <a:ext cx="2486025" cy="218415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Critérios alinhados ao tipo de solução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3328988" y="3495638"/>
            <a:ext cx="2486025" cy="218415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Evidências vinculadas ao documento de origem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5815013" y="1675293"/>
            <a:ext cx="300038" cy="2143125"/>
          </a:xfrm>
          <a:prstGeom prst="rect">
            <a:avLst/>
          </a:prstGeom>
          <a:noFill/>
          <a:ln/>
        </p:spPr>
        <p:txBody>
          <a:bodyPr wrap="none" lIns="0" tIns="47625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6115050" y="1832456"/>
            <a:ext cx="24860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SAÍDA AUDITÁVEL</a:t>
            </a:r>
            <a:endParaRPr lang="en-US" sz="650" dirty="0"/>
          </a:p>
        </p:txBody>
      </p:sp>
      <p:sp>
        <p:nvSpPr>
          <p:cNvPr id="20" name="Text 16"/>
          <p:cNvSpPr/>
          <p:nvPr/>
        </p:nvSpPr>
        <p:spPr>
          <a:xfrm>
            <a:off x="6115050" y="2030695"/>
            <a:ext cx="24860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Parecer rastreável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115050" y="2559332"/>
            <a:ext cx="2400300" cy="47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44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resultado deve separar fatos documentados, lacunas de evidência e inferências técnicas.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115050" y="3205786"/>
            <a:ext cx="2486025" cy="218415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Maturidade com justificativa explícita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6115050" y="3495638"/>
            <a:ext cx="2486025" cy="218415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Riscos e recomendações sustentados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542925" y="4032731"/>
            <a:ext cx="8058150" cy="757238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25" name="Text 21"/>
          <p:cNvSpPr/>
          <p:nvPr/>
        </p:nvSpPr>
        <p:spPr>
          <a:xfrm>
            <a:off x="771525" y="4181326"/>
            <a:ext cx="1928813" cy="460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Qualidade do parecer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2700338" y="4216877"/>
            <a:ext cx="1752591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Evidência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700338" y="4414028"/>
            <a:ext cx="130552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foi encontrado nos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2700338" y="4563489"/>
            <a:ext cx="680442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652953" y="4216877"/>
            <a:ext cx="1752591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Lacuna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652953" y="4414028"/>
            <a:ext cx="1528763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não foi comprovado ou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652953" y="4563489"/>
            <a:ext cx="887611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está insuficiente.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6605569" y="4216877"/>
            <a:ext cx="1752591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Inferência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6605569" y="4414028"/>
            <a:ext cx="1589484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exige validação humana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6605569" y="4563489"/>
            <a:ext cx="917972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da decisão.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2883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2925" y="371475"/>
            <a:ext cx="80581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RISCO, CONTROLE E RESPONSABILIDADE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42925" y="607219"/>
            <a:ext cx="6643688" cy="304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9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Governança reduz riscos de IA generativa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542925" y="1039834"/>
            <a:ext cx="7429500" cy="393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Sistemas LLM aplicados a pareceres técnicos precisam operar com limites de autonomia, evidências documentais e revisão humana obrigatória.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42925" y="1847748"/>
            <a:ext cx="3071813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 qualidade do parecer </a:t>
            </a:r>
            <a:r>
              <a:rPr lang="en-US" sz="15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depende de </a:t>
            </a:r>
            <a:r>
              <a:rPr lang="en-US" sz="15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controles </a:t>
            </a:r>
            <a:r>
              <a:rPr lang="en-US" sz="15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explícitos</a:t>
            </a:r>
            <a:r>
              <a:rPr lang="en-US" sz="15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, não apenas da </a:t>
            </a:r>
            <a:r>
              <a:rPr lang="en-US" sz="15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fluência do modelo.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42925" y="2962173"/>
            <a:ext cx="3071813" cy="531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agente deve separar conteúdo documental de instruções, preservar confidencialidade, indicar lacunas e impedir emissão final sem autorização do responsável.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542925" y="3757919"/>
            <a:ext cx="30718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01</a:t>
            </a:r>
            <a:r>
              <a:rPr lang="en-US" sz="75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Humano no controle da decisão.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42925" y="3995449"/>
            <a:ext cx="30718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02</a:t>
            </a:r>
            <a:r>
              <a:rPr lang="en-US" sz="75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Evidência antes da conclusão.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542925" y="4232979"/>
            <a:ext cx="30718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03</a:t>
            </a:r>
            <a:r>
              <a:rPr lang="en-US" sz="75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Escopo restrito ao processo autorizado.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4227788" y="1876323"/>
            <a:ext cx="13573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RISCO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5756551" y="1876323"/>
            <a:ext cx="284452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CONTROLE ESSENCIAL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4227788" y="2162073"/>
            <a:ext cx="135731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Prompt injection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756551" y="2162073"/>
            <a:ext cx="2844524" cy="443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Separar instruções do sistema, conteúdo documental e comandos do usuário; aplicar validação e guardrails fixos.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227788" y="2684264"/>
            <a:ext cx="135731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Vazamento de dados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756551" y="2684264"/>
            <a:ext cx="2844524" cy="443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Controlar acesso, classificar informações, limitar retenção e registrar uso conforme políticas de segurança e LGPD.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227788" y="3206455"/>
            <a:ext cx="135731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Overreliance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756551" y="3206455"/>
            <a:ext cx="2844524" cy="443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Exigir revisão humana, destacar incertezas e diferenciar evidência comprovada de inferência do agente.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227788" y="3728647"/>
            <a:ext cx="135731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Agência excessiva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756551" y="3728647"/>
            <a:ext cx="2844524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Bloquear aprovações, submissões ou parecer final sem confirmação explícita do usuário responsável.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227788" y="4171559"/>
            <a:ext cx="135731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Alucinação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756551" y="4171559"/>
            <a:ext cx="2844524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Usar RAG governado, citar evidências, registrar lacunas e padronizar critérios de maturidade.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542925" y="4728772"/>
            <a:ext cx="8058150" cy="500063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25" name="Text 21"/>
          <p:cNvSpPr/>
          <p:nvPr/>
        </p:nvSpPr>
        <p:spPr>
          <a:xfrm>
            <a:off x="742950" y="4901115"/>
            <a:ext cx="178593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Mensagem-chave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528888" y="4899943"/>
            <a:ext cx="5857875" cy="157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85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governança transforma IA generativa de assistente fluente em mecanismo auditável de apoio à decisão.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1488" y="328613"/>
            <a:ext cx="82010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GOVERNANÇA OPERACIONAL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471488" y="541139"/>
            <a:ext cx="64293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 matriz RACI clarifica responsabilidades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471488" y="918893"/>
            <a:ext cx="7000875" cy="344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separação entre execução, consulta, decisão e informação evita ambiguidade: o agente apoia a análise; o humano mantém responsabilidade e autorização.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471488" y="1485202"/>
            <a:ext cx="2085975" cy="340723"/>
          </a:xfrm>
          <a:prstGeom prst="rect">
            <a:avLst/>
          </a:prstGeom>
          <a:noFill/>
          <a:ln/>
        </p:spPr>
        <p:txBody>
          <a:bodyPr wrap="square" lIns="51054" tIns="110617" rIns="51054" bIns="0" rtlCol="0" anchor="ctr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Etapa principal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3128070" y="1576285"/>
            <a:ext cx="38754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Usuário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2600325" y="1719495"/>
            <a:ext cx="1443038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600" b="1" dirty="0">
                <a:solidFill>
                  <a:srgbClr val="64748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SOLICITANTE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4671120" y="1576285"/>
            <a:ext cx="35897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Agente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4129088" y="1719495"/>
            <a:ext cx="1443038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600" b="1" dirty="0">
                <a:solidFill>
                  <a:srgbClr val="64748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PARECERISTA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6050756" y="1576285"/>
            <a:ext cx="6572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Especialistas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5657850" y="1719495"/>
            <a:ext cx="1443038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600" b="1" dirty="0">
                <a:solidFill>
                  <a:srgbClr val="64748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ARQUITETURA, SI, DADOS, IA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7730430" y="1576285"/>
            <a:ext cx="35540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Comitê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7186613" y="1719495"/>
            <a:ext cx="1443038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600" b="1" dirty="0">
                <a:solidFill>
                  <a:srgbClr val="64748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HOMOLOGAÇÃO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471488" y="1825926"/>
            <a:ext cx="2085975" cy="221791"/>
          </a:xfrm>
          <a:prstGeom prst="rect">
            <a:avLst/>
          </a:prstGeom>
          <a:noFill/>
          <a:ln/>
        </p:spPr>
        <p:txBody>
          <a:bodyPr wrap="square" lIns="51054" tIns="93599" rIns="51054" bIns="0" rtlCol="0" anchor="ctr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Contextualizar a demanda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186113" y="1908079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R/A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714875" y="1908079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243638" y="1908079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772400" y="1908079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71488" y="2047717"/>
            <a:ext cx="2085975" cy="221791"/>
          </a:xfrm>
          <a:prstGeom prst="rect">
            <a:avLst/>
          </a:prstGeom>
          <a:noFill/>
          <a:ln/>
        </p:spPr>
        <p:txBody>
          <a:bodyPr wrap="square" lIns="51054" tIns="93599" rIns="51054" bIns="0" rtlCol="0" anchor="ctr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Enviar documentos e evidências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3186113" y="2129870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R/A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714875" y="2129870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243638" y="2129870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772400" y="2129870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71488" y="2269508"/>
            <a:ext cx="2085975" cy="221791"/>
          </a:xfrm>
          <a:prstGeom prst="rect">
            <a:avLst/>
          </a:prstGeom>
          <a:noFill/>
          <a:ln/>
        </p:spPr>
        <p:txBody>
          <a:bodyPr wrap="square" lIns="51054" tIns="93599" rIns="51054" bIns="0" rtlCol="0" anchor="ctr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Confirmar início da análise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3186113" y="2351661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R/A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714875" y="2351661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243638" y="2351661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7772400" y="2351661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71488" y="2491299"/>
            <a:ext cx="2085975" cy="221791"/>
          </a:xfrm>
          <a:prstGeom prst="rect">
            <a:avLst/>
          </a:prstGeom>
          <a:noFill/>
          <a:ln/>
        </p:spPr>
        <p:txBody>
          <a:bodyPr wrap="square" lIns="51054" tIns="93599" rIns="51054" bIns="0" rtlCol="0" anchor="ctr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Executar análise prévia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3186113" y="2573452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4714875" y="2573452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243638" y="2573452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7772400" y="2573452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471488" y="2713090"/>
            <a:ext cx="2085975" cy="221791"/>
          </a:xfrm>
          <a:prstGeom prst="rect">
            <a:avLst/>
          </a:prstGeom>
          <a:noFill/>
          <a:ln/>
        </p:spPr>
        <p:txBody>
          <a:bodyPr wrap="square" lIns="51054" tIns="93599" rIns="51054" bIns="0" rtlCol="0" anchor="ctr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Revisar achados e decidir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3186113" y="2795243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R/A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4714875" y="2795243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6243638" y="2795243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7772400" y="2795243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471488" y="2934881"/>
            <a:ext cx="2085975" cy="221791"/>
          </a:xfrm>
          <a:prstGeom prst="rect">
            <a:avLst/>
          </a:prstGeom>
          <a:noFill/>
          <a:ln/>
        </p:spPr>
        <p:txBody>
          <a:bodyPr wrap="square" lIns="51054" tIns="93599" rIns="51054" bIns="0" rtlCol="0" anchor="ctr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Gerar parecer técnico final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3186113" y="3017034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4714875" y="3017034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6243638" y="3017034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7772400" y="3017034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471488" y="3156672"/>
            <a:ext cx="2085975" cy="221791"/>
          </a:xfrm>
          <a:prstGeom prst="rect">
            <a:avLst/>
          </a:prstGeom>
          <a:noFill/>
          <a:ln/>
        </p:spPr>
        <p:txBody>
          <a:bodyPr wrap="square" lIns="51054" tIns="93599" rIns="51054" bIns="0" rtlCol="0" anchor="ctr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Registrar e encaminhar resultado</a:t>
            </a:r>
            <a:endParaRPr lang="en-US" sz="700" dirty="0"/>
          </a:p>
        </p:txBody>
      </p:sp>
      <p:sp>
        <p:nvSpPr>
          <p:cNvPr id="47" name="Text 43"/>
          <p:cNvSpPr/>
          <p:nvPr/>
        </p:nvSpPr>
        <p:spPr>
          <a:xfrm>
            <a:off x="3186113" y="3238826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4714875" y="3238826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6243638" y="3238826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7772400" y="3238826"/>
            <a:ext cx="271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A/I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471488" y="3646354"/>
            <a:ext cx="837605" cy="173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50" b="1" dirty="0">
                <a:solidFill>
                  <a:srgbClr val="0033A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</a:t>
            </a:r>
            <a:endParaRPr lang="en-US" sz="950" dirty="0"/>
          </a:p>
        </p:txBody>
      </p:sp>
      <p:sp>
        <p:nvSpPr>
          <p:cNvPr id="52" name="Text 48"/>
          <p:cNvSpPr/>
          <p:nvPr/>
        </p:nvSpPr>
        <p:spPr>
          <a:xfrm>
            <a:off x="471488" y="3857569"/>
            <a:ext cx="42683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Executa a</a:t>
            </a:r>
            <a:endParaRPr lang="en-US" sz="650" dirty="0"/>
          </a:p>
        </p:txBody>
      </p:sp>
      <p:sp>
        <p:nvSpPr>
          <p:cNvPr id="53" name="Text 49"/>
          <p:cNvSpPr/>
          <p:nvPr/>
        </p:nvSpPr>
        <p:spPr>
          <a:xfrm>
            <a:off x="471488" y="3976418"/>
            <a:ext cx="4000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atividade</a:t>
            </a:r>
            <a:endParaRPr lang="en-US" sz="650" dirty="0"/>
          </a:p>
        </p:txBody>
      </p:sp>
      <p:sp>
        <p:nvSpPr>
          <p:cNvPr id="54" name="Text 50"/>
          <p:cNvSpPr/>
          <p:nvPr/>
        </p:nvSpPr>
        <p:spPr>
          <a:xfrm>
            <a:off x="1409105" y="3646354"/>
            <a:ext cx="837633" cy="173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50" b="1" dirty="0">
                <a:solidFill>
                  <a:srgbClr val="0033A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</a:t>
            </a:r>
            <a:endParaRPr lang="en-US" sz="950" dirty="0"/>
          </a:p>
        </p:txBody>
      </p:sp>
      <p:sp>
        <p:nvSpPr>
          <p:cNvPr id="55" name="Text 51"/>
          <p:cNvSpPr/>
          <p:nvPr/>
        </p:nvSpPr>
        <p:spPr>
          <a:xfrm>
            <a:off x="1409105" y="3857569"/>
            <a:ext cx="65008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 pela</a:t>
            </a:r>
            <a:endParaRPr lang="en-US" sz="650" dirty="0"/>
          </a:p>
        </p:txBody>
      </p:sp>
      <p:sp>
        <p:nvSpPr>
          <p:cNvPr id="56" name="Text 52"/>
          <p:cNvSpPr/>
          <p:nvPr/>
        </p:nvSpPr>
        <p:spPr>
          <a:xfrm>
            <a:off x="1409105" y="3976418"/>
            <a:ext cx="34290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decisão</a:t>
            </a:r>
            <a:endParaRPr lang="en-US" sz="650" dirty="0"/>
          </a:p>
        </p:txBody>
      </p:sp>
      <p:sp>
        <p:nvSpPr>
          <p:cNvPr id="57" name="Text 53"/>
          <p:cNvSpPr/>
          <p:nvPr/>
        </p:nvSpPr>
        <p:spPr>
          <a:xfrm>
            <a:off x="2346750" y="3646354"/>
            <a:ext cx="837605" cy="173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50" b="1" dirty="0">
                <a:solidFill>
                  <a:srgbClr val="0033A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</a:t>
            </a:r>
            <a:endParaRPr lang="en-US" sz="950" dirty="0"/>
          </a:p>
        </p:txBody>
      </p:sp>
      <p:sp>
        <p:nvSpPr>
          <p:cNvPr id="58" name="Text 54"/>
          <p:cNvSpPr/>
          <p:nvPr/>
        </p:nvSpPr>
        <p:spPr>
          <a:xfrm>
            <a:off x="2346750" y="3857569"/>
            <a:ext cx="38754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 ser</a:t>
            </a:r>
            <a:endParaRPr lang="en-US" sz="650" dirty="0"/>
          </a:p>
        </p:txBody>
      </p:sp>
      <p:sp>
        <p:nvSpPr>
          <p:cNvPr id="59" name="Text 55"/>
          <p:cNvSpPr/>
          <p:nvPr/>
        </p:nvSpPr>
        <p:spPr>
          <a:xfrm>
            <a:off x="2346750" y="3976418"/>
            <a:ext cx="48756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consultado</a:t>
            </a:r>
            <a:endParaRPr lang="en-US" sz="650" dirty="0"/>
          </a:p>
        </p:txBody>
      </p:sp>
      <p:sp>
        <p:nvSpPr>
          <p:cNvPr id="60" name="Text 56"/>
          <p:cNvSpPr/>
          <p:nvPr/>
        </p:nvSpPr>
        <p:spPr>
          <a:xfrm>
            <a:off x="3284367" y="3646354"/>
            <a:ext cx="837633" cy="173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50" b="1" dirty="0">
                <a:solidFill>
                  <a:srgbClr val="0033A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</a:t>
            </a:r>
            <a:endParaRPr lang="en-US" sz="950" dirty="0"/>
          </a:p>
        </p:txBody>
      </p:sp>
      <p:sp>
        <p:nvSpPr>
          <p:cNvPr id="61" name="Text 57"/>
          <p:cNvSpPr/>
          <p:nvPr/>
        </p:nvSpPr>
        <p:spPr>
          <a:xfrm>
            <a:off x="3284367" y="3857569"/>
            <a:ext cx="38754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 ser</a:t>
            </a:r>
            <a:endParaRPr lang="en-US" sz="650" dirty="0"/>
          </a:p>
        </p:txBody>
      </p:sp>
      <p:sp>
        <p:nvSpPr>
          <p:cNvPr id="62" name="Text 58"/>
          <p:cNvSpPr/>
          <p:nvPr/>
        </p:nvSpPr>
        <p:spPr>
          <a:xfrm>
            <a:off x="3284367" y="3976418"/>
            <a:ext cx="44827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informado</a:t>
            </a:r>
            <a:endParaRPr lang="en-US" sz="650" dirty="0"/>
          </a:p>
        </p:txBody>
      </p:sp>
      <p:sp>
        <p:nvSpPr>
          <p:cNvPr id="63" name="Shape 59"/>
          <p:cNvSpPr/>
          <p:nvPr/>
        </p:nvSpPr>
        <p:spPr>
          <a:xfrm>
            <a:off x="4364887" y="3539198"/>
            <a:ext cx="4307625" cy="657225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64" name="Text 60"/>
          <p:cNvSpPr/>
          <p:nvPr/>
        </p:nvSpPr>
        <p:spPr>
          <a:xfrm>
            <a:off x="4536337" y="3667785"/>
            <a:ext cx="3964725" cy="1728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Regra de ouro</a:t>
            </a:r>
            <a:endParaRPr lang="en-US" sz="1100" dirty="0"/>
          </a:p>
        </p:txBody>
      </p:sp>
      <p:sp>
        <p:nvSpPr>
          <p:cNvPr id="65" name="Text 61"/>
          <p:cNvSpPr/>
          <p:nvPr/>
        </p:nvSpPr>
        <p:spPr>
          <a:xfrm>
            <a:off x="4536337" y="3897809"/>
            <a:ext cx="396472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parecer final só deve ser emitido após revisão humana e confirmação explícita registrada no fluxo de homologação.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4030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2925" y="371475"/>
            <a:ext cx="80581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VALOR INSTITUCIONAL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42925" y="607219"/>
            <a:ext cx="6643688" cy="304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9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valor aparece em eficiência e qualidade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542925" y="1039834"/>
            <a:ext cx="7215188" cy="393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agentes pareceristas reduzem esforço manual, tornam critérios mais consistentes e criam uma base mensurável para governar homologações por evidências.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57213" y="1876323"/>
            <a:ext cx="1814513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EFICIÊNCIA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557213" y="2095993"/>
            <a:ext cx="1814513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Menos esforço preliminar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57213" y="2617487"/>
            <a:ext cx="1814513" cy="616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leitura inicial de documentos técnicos e comerciais deixa de depender exclusivamente de triagem manual.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557213" y="3469937"/>
            <a:ext cx="1814513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IMPACTO</a:t>
            </a:r>
            <a:endParaRPr lang="en-US" sz="600" dirty="0"/>
          </a:p>
        </p:txBody>
      </p:sp>
      <p:sp>
        <p:nvSpPr>
          <p:cNvPr id="11" name="Text 7"/>
          <p:cNvSpPr/>
          <p:nvPr/>
        </p:nvSpPr>
        <p:spPr>
          <a:xfrm>
            <a:off x="557213" y="3625314"/>
            <a:ext cx="1814513" cy="287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Especialistas focam em exceções, riscos críticos e decisão.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2614613" y="1876323"/>
            <a:ext cx="1814513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PADRONIZAÇÃO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2614613" y="2095993"/>
            <a:ext cx="1814513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Critérios por domínio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614613" y="2617487"/>
            <a:ext cx="1814513" cy="46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Infraestrutura, negócios, segurança, dados e IA aplicam estruturas de análise comparáveis.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614613" y="3469937"/>
            <a:ext cx="1814513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IMPACTO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2614613" y="3625314"/>
            <a:ext cx="1814513" cy="287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Pareceres mais consistentes entre áreas e fornecedores.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4672013" y="1876323"/>
            <a:ext cx="1814513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AUDITABILIDADE</a:t>
            </a:r>
            <a:endParaRPr lang="en-US" sz="650" dirty="0"/>
          </a:p>
        </p:txBody>
      </p:sp>
      <p:sp>
        <p:nvSpPr>
          <p:cNvPr id="18" name="Text 14"/>
          <p:cNvSpPr/>
          <p:nvPr/>
        </p:nvSpPr>
        <p:spPr>
          <a:xfrm>
            <a:off x="4672013" y="2095993"/>
            <a:ext cx="1814513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Evidência antes da conclusão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672013" y="2617487"/>
            <a:ext cx="1814513" cy="616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parecer distingue evidência comprovada, lacuna documental e inferência que exige revisão humana.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672013" y="3469937"/>
            <a:ext cx="1814513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IMPACTO</a:t>
            </a:r>
            <a:endParaRPr lang="en-US" sz="600" dirty="0"/>
          </a:p>
        </p:txBody>
      </p:sp>
      <p:sp>
        <p:nvSpPr>
          <p:cNvPr id="21" name="Text 17"/>
          <p:cNvSpPr/>
          <p:nvPr/>
        </p:nvSpPr>
        <p:spPr>
          <a:xfrm>
            <a:off x="4672013" y="3625314"/>
            <a:ext cx="1814513" cy="287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Melhor sustentação para comitês, auditorias e revisões.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6729413" y="1876323"/>
            <a:ext cx="1814513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APRENDIZADO</a:t>
            </a:r>
            <a:endParaRPr lang="en-US" sz="650" dirty="0"/>
          </a:p>
        </p:txBody>
      </p:sp>
      <p:sp>
        <p:nvSpPr>
          <p:cNvPr id="23" name="Text 19"/>
          <p:cNvSpPr/>
          <p:nvPr/>
        </p:nvSpPr>
        <p:spPr>
          <a:xfrm>
            <a:off x="6729413" y="2095993"/>
            <a:ext cx="1814513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Melhoria contínua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729413" y="2617487"/>
            <a:ext cx="1814513" cy="46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de uso, lacunas e riscos recorrentes revelam onde ajustar critérios, documentos e políticas.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729413" y="3469937"/>
            <a:ext cx="1814513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IMPACTO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6729413" y="3625314"/>
            <a:ext cx="1814513" cy="287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Governança evolui com dados reais do processo.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542925" y="4112484"/>
            <a:ext cx="8058150" cy="80010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28" name="Text 24"/>
          <p:cNvSpPr/>
          <p:nvPr/>
        </p:nvSpPr>
        <p:spPr>
          <a:xfrm>
            <a:off x="771525" y="4400522"/>
            <a:ext cx="2035969" cy="22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Como medir valor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2807494" y="4324536"/>
            <a:ext cx="1707356" cy="1531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Tempo de ciclo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807494" y="4520543"/>
            <a:ext cx="154126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envio documental à análise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2807494" y="4664115"/>
            <a:ext cx="53042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preliminar.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729163" y="4324536"/>
            <a:ext cx="1707356" cy="1531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Qualidade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4729163" y="4520543"/>
            <a:ext cx="14287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completude de evidências e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729163" y="4664115"/>
            <a:ext cx="110549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lacunas identificadas.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6650831" y="4324536"/>
            <a:ext cx="1707356" cy="1531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Governança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6650831" y="4520543"/>
            <a:ext cx="122693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pareceres emitidos com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6650831" y="4664115"/>
            <a:ext cx="16698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confirmação explícita registrada.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542925" y="5041171"/>
            <a:ext cx="8058150" cy="199132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 central: a eficiência só é sustentável quando acompanhada por padronização, rastreabilidade e revisão humana.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7440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357188"/>
            <a:ext cx="8143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PONTO ÓTIMO DE USO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00063" y="592931"/>
            <a:ext cx="6643688" cy="304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9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momento ideal é antes da decisão formal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500063" y="982684"/>
            <a:ext cx="7286625" cy="370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52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agentes geram maior valor quando existe dossiê documental mínimo e ainda há tempo para complementar evidências, mitigar riscos e condicionar a homologação.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00063" y="1931631"/>
            <a:ext cx="152588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spc="1" kern="0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INÍCIO DO CICLO</a:t>
            </a:r>
            <a:endParaRPr lang="en-US" sz="600" dirty="0"/>
          </a:p>
        </p:txBody>
      </p:sp>
      <p:sp>
        <p:nvSpPr>
          <p:cNvPr id="8" name="Text 4"/>
          <p:cNvSpPr/>
          <p:nvPr/>
        </p:nvSpPr>
        <p:spPr>
          <a:xfrm>
            <a:off x="500063" y="2231668"/>
            <a:ext cx="15258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04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Ideação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0063" y="2688868"/>
            <a:ext cx="1525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50" b="1" spc="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USO PARCIAL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500063" y="2988906"/>
            <a:ext cx="1525888" cy="714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Apoia perguntas orientativas e checklists iniciais, mas não deve gerar parecer final por ausência de evidências suficientes.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500063" y="3832147"/>
            <a:ext cx="1525888" cy="363996"/>
          </a:xfrm>
          <a:prstGeom prst="rect">
            <a:avLst/>
          </a:prstGeom>
          <a:noFill/>
          <a:ln/>
        </p:spPr>
        <p:txBody>
          <a:bodyPr wrap="square" lIns="0" tIns="110617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Valor:</a:t>
            </a:r>
            <a:r>
              <a:rPr lang="en-US" sz="70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preparar melhor a </a:t>
            </a:r>
            <a:r>
              <a:rPr lang="en-US" sz="70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demanda.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154538" y="1931631"/>
            <a:ext cx="152591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spc="1" kern="0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AVALIAÇÃO PRELIMINAR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2154538" y="2231668"/>
            <a:ext cx="152591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04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RFI / RFP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154538" y="2688868"/>
            <a:ext cx="15259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50" b="1" spc="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APOIO EXPLORATÓRIO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2154538" y="2988906"/>
            <a:ext cx="1525916" cy="714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Ajuda a comparar propostas, levantar riscos iniciais e antecipar documentos que serão exigidos no rito de homologação.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2154538" y="3832147"/>
            <a:ext cx="1525916" cy="363996"/>
          </a:xfrm>
          <a:prstGeom prst="rect">
            <a:avLst/>
          </a:prstGeom>
          <a:noFill/>
          <a:ln/>
        </p:spPr>
        <p:txBody>
          <a:bodyPr wrap="square" lIns="0" tIns="110617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Valor:</a:t>
            </a:r>
            <a:r>
              <a:rPr lang="en-US" sz="70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reduzir surpresas </a:t>
            </a:r>
            <a:r>
              <a:rPr lang="en-US" sz="70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posteriores.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809042" y="1931631"/>
            <a:ext cx="152588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PONTO IDEAL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3809042" y="2231668"/>
            <a:ext cx="15258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04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Dossiê recebido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809042" y="2688868"/>
            <a:ext cx="1525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5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USO RECOMENDADO</a:t>
            </a:r>
            <a:endParaRPr lang="en-US" sz="650" dirty="0"/>
          </a:p>
        </p:txBody>
      </p:sp>
      <p:sp>
        <p:nvSpPr>
          <p:cNvPr id="20" name="Text 16"/>
          <p:cNvSpPr/>
          <p:nvPr/>
        </p:nvSpPr>
        <p:spPr>
          <a:xfrm>
            <a:off x="3809042" y="2988906"/>
            <a:ext cx="1525888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análise estruturada de documentos técnicos, comerciais e evidências por domínio de arquitetura.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3809042" y="3703281"/>
            <a:ext cx="1525888" cy="363996"/>
          </a:xfrm>
          <a:prstGeom prst="rect">
            <a:avLst/>
          </a:prstGeom>
          <a:noFill/>
          <a:ln/>
        </p:spPr>
        <p:txBody>
          <a:bodyPr wrap="square" lIns="0" tIns="110617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Valor:</a:t>
            </a:r>
            <a:r>
              <a:rPr lang="en-US" sz="70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transformar </a:t>
            </a:r>
            <a:r>
              <a:rPr lang="en-US" sz="70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documentos em evidências.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5463518" y="1931631"/>
            <a:ext cx="152591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ANTES DA DECISÃO</a:t>
            </a:r>
            <a:endParaRPr lang="en-US" sz="600" dirty="0"/>
          </a:p>
        </p:txBody>
      </p:sp>
      <p:sp>
        <p:nvSpPr>
          <p:cNvPr id="23" name="Text 19"/>
          <p:cNvSpPr/>
          <p:nvPr/>
        </p:nvSpPr>
        <p:spPr>
          <a:xfrm>
            <a:off x="5463518" y="2231668"/>
            <a:ext cx="152591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04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Pré-comitê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63518" y="2688868"/>
            <a:ext cx="15259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5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USO RECOMENDADO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5463518" y="2988906"/>
            <a:ext cx="1525916" cy="714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 lacunas, maturidade, riscos e condicionantes para apoiar decisão humana e rito institucional.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5463518" y="3832147"/>
            <a:ext cx="1525916" cy="363996"/>
          </a:xfrm>
          <a:prstGeom prst="rect">
            <a:avLst/>
          </a:prstGeom>
          <a:noFill/>
          <a:ln/>
        </p:spPr>
        <p:txBody>
          <a:bodyPr wrap="square" lIns="0" tIns="110617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Valor:</a:t>
            </a:r>
            <a:r>
              <a:rPr lang="en-US" sz="70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decidir com </a:t>
            </a:r>
            <a:r>
              <a:rPr lang="en-US" sz="70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rastreabilidade.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7118021" y="1931631"/>
            <a:ext cx="152591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spc="1" kern="0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APÓS CONTRATAÇÃO</a:t>
            </a:r>
            <a:endParaRPr lang="en-US" sz="600" dirty="0"/>
          </a:p>
        </p:txBody>
      </p:sp>
      <p:sp>
        <p:nvSpPr>
          <p:cNvPr id="28" name="Text 24"/>
          <p:cNvSpPr/>
          <p:nvPr/>
        </p:nvSpPr>
        <p:spPr>
          <a:xfrm>
            <a:off x="7118021" y="2231668"/>
            <a:ext cx="152591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04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Pós-contratação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7118021" y="2688868"/>
            <a:ext cx="15259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50" b="1" spc="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REVISÃO CONTÍNUA</a:t>
            </a:r>
            <a:endParaRPr lang="en-US" sz="650" dirty="0"/>
          </a:p>
        </p:txBody>
      </p:sp>
      <p:sp>
        <p:nvSpPr>
          <p:cNvPr id="30" name="Text 26"/>
          <p:cNvSpPr/>
          <p:nvPr/>
        </p:nvSpPr>
        <p:spPr>
          <a:xfrm>
            <a:off x="7118021" y="2988906"/>
            <a:ext cx="1525916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Apoia auditoria, revisão pós-implantação, atualização de evidências e melhoria contínua do processo.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7118021" y="3703281"/>
            <a:ext cx="1525916" cy="363996"/>
          </a:xfrm>
          <a:prstGeom prst="rect">
            <a:avLst/>
          </a:prstGeom>
          <a:noFill/>
          <a:ln/>
        </p:spPr>
        <p:txBody>
          <a:bodyPr wrap="square" lIns="0" tIns="110617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Valor:</a:t>
            </a:r>
            <a:r>
              <a:rPr lang="en-US" sz="70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aprender com a </a:t>
            </a:r>
            <a:r>
              <a:rPr lang="en-US" sz="70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operação.</a:t>
            </a:r>
            <a:endParaRPr lang="en-US" sz="700" dirty="0"/>
          </a:p>
        </p:txBody>
      </p:sp>
      <p:sp>
        <p:nvSpPr>
          <p:cNvPr id="32" name="Shape 28"/>
          <p:cNvSpPr/>
          <p:nvPr/>
        </p:nvSpPr>
        <p:spPr>
          <a:xfrm>
            <a:off x="500063" y="4281869"/>
            <a:ext cx="8143875" cy="774316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33" name="Text 29"/>
          <p:cNvSpPr/>
          <p:nvPr/>
        </p:nvSpPr>
        <p:spPr>
          <a:xfrm>
            <a:off x="500063" y="4281869"/>
            <a:ext cx="2214563" cy="774316"/>
          </a:xfrm>
          <a:prstGeom prst="rect">
            <a:avLst/>
          </a:prstGeom>
          <a:noFill/>
          <a:ln/>
        </p:spPr>
        <p:txBody>
          <a:bodyPr wrap="square" lIns="255143" tIns="0" rIns="221107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Regra prática de governança</a:t>
            </a:r>
            <a:endParaRPr lang="en-US" sz="1350" dirty="0"/>
          </a:p>
        </p:txBody>
      </p:sp>
      <p:sp>
        <p:nvSpPr>
          <p:cNvPr id="34" name="Text 30"/>
          <p:cNvSpPr/>
          <p:nvPr/>
        </p:nvSpPr>
        <p:spPr>
          <a:xfrm>
            <a:off x="2957513" y="4381881"/>
            <a:ext cx="2593181" cy="330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8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 dossiê mínimo, não há parecer robusto.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2957513" y="4762174"/>
            <a:ext cx="2291358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8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agente deve solicitar complementação ou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2957513" y="4912751"/>
            <a:ext cx="1802011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8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registrar insuficiência documental.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5793581" y="4381881"/>
            <a:ext cx="2593181" cy="330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8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Antes da decisão, há maior poder de correção.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5793581" y="4762174"/>
            <a:ext cx="2282428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8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parecer pré-comitê permite mitigar riscos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793581" y="4912751"/>
            <a:ext cx="1582341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8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da homologação formal.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500063" y="5099047"/>
            <a:ext cx="8143875" cy="175357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 operacional: usar cedo o suficiente para corrigir lacunas, mas tarde o suficiente para analisar evidências reais.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342900"/>
            <a:ext cx="8143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ARTEFATO FINAL DE HOMOLOGAÇÃO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00063" y="564356"/>
            <a:ext cx="6715125" cy="2907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85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parecer deve ser padronizado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00063" y="969401"/>
            <a:ext cx="7286625" cy="365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parecer consistente precisa ter estrutura mínima, critérios explícitos e separação clara entre evidência documentada, lacuna identificada, risco técnico e recomendação humana.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00063" y="1621408"/>
            <a:ext cx="1271588" cy="126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7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Identificação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1885950" y="1548882"/>
            <a:ext cx="3300971" cy="27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Solicitação, fornecedor, solução, área demandante, agente utilizado</a:t>
            </a: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versão do parecer.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500063" y="1928645"/>
            <a:ext cx="1271588" cy="126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7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Escopo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1885950" y="1856119"/>
            <a:ext cx="3300971" cy="27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Objeto analisado, limites da avaliação, premissas adotadas e exclusões relevantes.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500063" y="2235882"/>
            <a:ext cx="1271588" cy="126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7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Documentos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1885950" y="2163356"/>
            <a:ext cx="3300971" cy="27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 de arquivos, datas, versões, anexos, evidências recebidas e pendências documentais.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500063" y="2543119"/>
            <a:ext cx="1271588" cy="126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7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Critérios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885950" y="2470593"/>
            <a:ext cx="3300971" cy="27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Requisitos aplicáveis por domínio: infraestrutura, negócio, segurança, dados ou COE de IA.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500063" y="2850356"/>
            <a:ext cx="1271588" cy="126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7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Evidências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1885950" y="2777830"/>
            <a:ext cx="3300971" cy="27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Achados comprovados nos documentos, com referência ao item, seção ou trecho analisado.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500063" y="3157593"/>
            <a:ext cx="1271588" cy="126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7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Lacunas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1885950" y="3085068"/>
            <a:ext cx="3300971" cy="27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Informações ausentes, insuficientes, contraditórias ou dependentes de validação adicional.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500063" y="3464830"/>
            <a:ext cx="1271588" cy="126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7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Riscos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1885950" y="3392305"/>
            <a:ext cx="3300971" cy="27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Impactos técnicos, operacionais, regulatórios, de segurança, continuidade e governança.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500063" y="3772067"/>
            <a:ext cx="1271588" cy="126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7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Conclusão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885950" y="3699542"/>
            <a:ext cx="3300971" cy="27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Síntese da maturidade, condicionantes, recomendações e encaminhamento para decisão humana.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5386946" y="1591745"/>
            <a:ext cx="325696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Princípios de qualidade do parecer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386946" y="1945360"/>
            <a:ext cx="4143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01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858433" y="1945360"/>
            <a:ext cx="2785476" cy="139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Comparabilidade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858433" y="2120522"/>
            <a:ext cx="2785476" cy="407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agentes devem produzir pareceres com campos equivalentes, permitindo leitura executiva e comparação entre casos.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5386946" y="2649662"/>
            <a:ext cx="4143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02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858433" y="2649662"/>
            <a:ext cx="2785476" cy="139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Rastreabilidade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858433" y="2824823"/>
            <a:ext cx="2785476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conclusão relevante deve apontar a evidência, a lacuna ou a inferência que a sustenta.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5386946" y="3218064"/>
            <a:ext cx="4143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858433" y="3218064"/>
            <a:ext cx="2785476" cy="139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Governança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858433" y="3393225"/>
            <a:ext cx="2785476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parecer deve registrar limites, incertezas e necessidade de revisão humana antes da decisão final.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5386946" y="3786467"/>
            <a:ext cx="4143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858433" y="3786467"/>
            <a:ext cx="2785476" cy="139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Ação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5858433" y="3961628"/>
            <a:ext cx="2785476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Recomendações devem indicar condicionantes, próximos passos e responsáveis pela complementação.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500063" y="4290575"/>
            <a:ext cx="8143875" cy="45720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37" name="Text 33"/>
          <p:cNvSpPr/>
          <p:nvPr/>
        </p:nvSpPr>
        <p:spPr>
          <a:xfrm>
            <a:off x="642938" y="4427172"/>
            <a:ext cx="1785938" cy="184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Regra de ouro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2428875" y="4322164"/>
            <a:ext cx="6072188" cy="394022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85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Parecer bom não é apenas texto bem escrito; é um registro decisório auditável, sustentado por critérios, evidências e revisão humana.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00063" y="4790638"/>
            <a:ext cx="8143875" cy="183952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Padrão recomendado: usar o mesmo template para todos os domínios e adaptar apenas critérios, perguntas e controles específicos de cada agente.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0050" y="357188"/>
            <a:ext cx="83439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ADOÇÃO INSTITUCIONAL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400050" y="592931"/>
            <a:ext cx="6715125" cy="304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9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 adoção exige comunicação institucional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400050" y="1025547"/>
            <a:ext cx="7358063" cy="370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52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página no Confluence deve ser o ponto oficial de orientação, reduzindo uso inadequado, alinhando expectativas e fortalecendo confiança no processo.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00050" y="1945918"/>
            <a:ext cx="2928938" cy="7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15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Não basta disponibilizar o </a:t>
            </a:r>
            <a:r>
              <a:rPr lang="en-US" sz="15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agente; é preciso </a:t>
            </a:r>
            <a:r>
              <a:rPr lang="en-US" sz="15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governar o </a:t>
            </a:r>
            <a:r>
              <a:rPr lang="en-US" sz="15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uso</a:t>
            </a:r>
            <a:r>
              <a:rPr lang="en-US" sz="15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00050" y="2834534"/>
            <a:ext cx="30360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Confluence deve explicar claramente quem pode usar, quando usar, quais documentos são necessários, quais limites existem e como o parecer será incorporado ao rito de homologação.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00050" y="3741790"/>
            <a:ext cx="3036094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OBJETIVO DA COMUNICAÇÃO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400050" y="3904311"/>
            <a:ext cx="3036094" cy="325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Transformar uma ferramenta de IA em prática institucional segura, compreensível e auditável.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014927" y="1903056"/>
            <a:ext cx="2257341" cy="151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9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Acesso e elegibilidade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014927" y="2119071"/>
            <a:ext cx="2257341" cy="285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Indicar público-alvo, credenciais, canal de acesso e pré-requisitos para iniciar a análise.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6486581" y="1903056"/>
            <a:ext cx="2257369" cy="151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9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Finalidade do agente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486581" y="2119071"/>
            <a:ext cx="2257369" cy="42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Explicar que o agente estrutura evidências e </a:t>
            </a: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recomendações, mas </a:t>
            </a:r>
            <a:r>
              <a:rPr lang="en-US" sz="7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não substitui</a:t>
            </a: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decisão </a:t>
            </a: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humana.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4014927" y="2640732"/>
            <a:ext cx="2257341" cy="151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9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Limites de uso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014927" y="2856747"/>
            <a:ext cx="2257341" cy="42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escopo, tipos de documentos aceitos, restrições de confidencialidade e casos em que a análise é insuficiente.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6486581" y="2640732"/>
            <a:ext cx="2257369" cy="151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9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Responsabilidades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486581" y="2856747"/>
            <a:ext cx="2257369" cy="42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Clarificar papéis do usuário, agente, especialistas, comitê e áreas de governança no ciclo de homologação.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4014927" y="3378408"/>
            <a:ext cx="2257341" cy="151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9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FAQ operacional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014927" y="3594422"/>
            <a:ext cx="2257341" cy="42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Responder dúvidas sobre prazos, evidências, reprocessamento, lacunas, revisão humana e emissão do parecer final.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6486581" y="3378408"/>
            <a:ext cx="2257369" cy="151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9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Suporte e melhoria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486581" y="3594422"/>
            <a:ext cx="2257369" cy="42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Registrar canal de suporte, coleta de feedback, métricas de uso e processo de atualização dos critérios.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400050" y="4286892"/>
            <a:ext cx="8343900" cy="62865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24" name="Text 20"/>
          <p:cNvSpPr/>
          <p:nvPr/>
        </p:nvSpPr>
        <p:spPr>
          <a:xfrm>
            <a:off x="571500" y="4385202"/>
            <a:ext cx="1857375" cy="432029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Princípios da página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2600325" y="4402503"/>
            <a:ext cx="1895466" cy="1531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Clareza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2600325" y="4598510"/>
            <a:ext cx="18752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usuário entende propósito, entrada e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600325" y="4742083"/>
            <a:ext cx="80903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saída esperada.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4624378" y="4402503"/>
            <a:ext cx="1895466" cy="1531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Responsabilidade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624378" y="4598510"/>
            <a:ext cx="176272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decisão humana e rito institucional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624378" y="4742083"/>
            <a:ext cx="12126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permanecem explícitos.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6648431" y="4402503"/>
            <a:ext cx="1895494" cy="1531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Rastreabilidade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6648431" y="4598510"/>
            <a:ext cx="18573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parecer nasce de documentos,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6648431" y="4742083"/>
            <a:ext cx="116978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critérios e autorização.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00050" y="4958404"/>
            <a:ext cx="8343900" cy="184845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Mensagem-chave: adoção sustentável depende tanto de tecnologia quanto de comunicação, treinamento e governança operacional.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42900" y="357188"/>
            <a:ext cx="84582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ROADMAP DE INSTITUCIONALIZAÇÃO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342900" y="592931"/>
            <a:ext cx="6715125" cy="304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9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Próximos passos recomendados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342900" y="968397"/>
            <a:ext cx="7429500" cy="370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52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implantação deve evoluir em ondas: primeiro estabelecer governança mínima, depois medir qualidade e adoção, e integrar o parecer ao workflow institucional.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342900" y="1788756"/>
            <a:ext cx="270508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CURTO PRAZO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42900" y="2003068"/>
            <a:ext cx="2705081" cy="416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Governança mínima operacional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42900" y="2504805"/>
            <a:ext cx="27050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Estabilizar uso com regras, templates e revisão humana obrigatória.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342900" y="2976293"/>
            <a:ext cx="2705081" cy="198239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ENTREGAS PRIORITÁRIAS</a:t>
            </a:r>
            <a:endParaRPr lang="en-US" sz="600" dirty="0"/>
          </a:p>
        </p:txBody>
      </p:sp>
      <p:sp>
        <p:nvSpPr>
          <p:cNvPr id="11" name="Text 7"/>
          <p:cNvSpPr/>
          <p:nvPr/>
        </p:nvSpPr>
        <p:spPr>
          <a:xfrm>
            <a:off x="342900" y="3288832"/>
            <a:ext cx="2705081" cy="1378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Publicar página oficial no Confluence.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342900" y="3483806"/>
            <a:ext cx="2705081" cy="1378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template único de parecer.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342900" y="3685924"/>
            <a:ext cx="2705081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CRITÉRIO DE SUCESSO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42900" y="3841300"/>
            <a:ext cx="2705081" cy="1435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Uso com escopo, responsável e trilha.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3219431" y="1788756"/>
            <a:ext cx="270510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MÉDIO PRAZO</a:t>
            </a:r>
            <a:endParaRPr lang="en-US" sz="650" dirty="0"/>
          </a:p>
        </p:txBody>
      </p:sp>
      <p:sp>
        <p:nvSpPr>
          <p:cNvPr id="16" name="Text 12"/>
          <p:cNvSpPr/>
          <p:nvPr/>
        </p:nvSpPr>
        <p:spPr>
          <a:xfrm>
            <a:off x="3219431" y="2003068"/>
            <a:ext cx="2705109" cy="416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Dashboards e qualidade mensurável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219431" y="2504805"/>
            <a:ext cx="270510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Transformar uso e riscos em indicadores para melhoria contínua.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219431" y="2976293"/>
            <a:ext cx="2705109" cy="198239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ENTREGAS PRIORITÁRIAS</a:t>
            </a:r>
            <a:endParaRPr lang="en-US" sz="600" dirty="0"/>
          </a:p>
        </p:txBody>
      </p:sp>
      <p:sp>
        <p:nvSpPr>
          <p:cNvPr id="19" name="Text 15"/>
          <p:cNvSpPr/>
          <p:nvPr/>
        </p:nvSpPr>
        <p:spPr>
          <a:xfrm>
            <a:off x="3219431" y="3288832"/>
            <a:ext cx="2705109" cy="1378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Medir tempo de ciclo e volume por agente.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3219431" y="3483806"/>
            <a:ext cx="2705109" cy="1378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Mapear lacunas documentais frequentes.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3219431" y="3685924"/>
            <a:ext cx="2705109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CRITÉRIO DE SUCESSO</a:t>
            </a:r>
            <a:endParaRPr lang="en-US" sz="600" dirty="0"/>
          </a:p>
        </p:txBody>
      </p:sp>
      <p:sp>
        <p:nvSpPr>
          <p:cNvPr id="22" name="Text 18"/>
          <p:cNvSpPr/>
          <p:nvPr/>
        </p:nvSpPr>
        <p:spPr>
          <a:xfrm>
            <a:off x="3219431" y="3841300"/>
            <a:ext cx="2705109" cy="1435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Gestão por evidências de qualidade.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6095991" y="1788756"/>
            <a:ext cx="270508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LONGO PRAZO</a:t>
            </a:r>
            <a:endParaRPr lang="en-US" sz="650" dirty="0"/>
          </a:p>
        </p:txBody>
      </p:sp>
      <p:sp>
        <p:nvSpPr>
          <p:cNvPr id="24" name="Text 20"/>
          <p:cNvSpPr/>
          <p:nvPr/>
        </p:nvSpPr>
        <p:spPr>
          <a:xfrm>
            <a:off x="6095991" y="2003068"/>
            <a:ext cx="2705081" cy="416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Integração ao workflow institucional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095991" y="2504805"/>
            <a:ext cx="27050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Conectar pareceres ao fluxo oficial de homologação e auditoria.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6095991" y="2976293"/>
            <a:ext cx="2705081" cy="198239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ENTREGAS PRIORITÁRIAS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6095991" y="3288832"/>
            <a:ext cx="2705081" cy="1378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Integrar com workflow de homologação.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6095991" y="3483806"/>
            <a:ext cx="2705081" cy="1378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Automatizar registro de evidências e aprovações.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6095991" y="3685924"/>
            <a:ext cx="2705081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CRITÉRIO DE SUCESSO</a:t>
            </a:r>
            <a:endParaRPr lang="en-US" sz="600" dirty="0"/>
          </a:p>
        </p:txBody>
      </p:sp>
      <p:sp>
        <p:nvSpPr>
          <p:cNvPr id="30" name="Text 26"/>
          <p:cNvSpPr/>
          <p:nvPr/>
        </p:nvSpPr>
        <p:spPr>
          <a:xfrm>
            <a:off x="6095991" y="3841300"/>
            <a:ext cx="2705081" cy="1435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Parecer como artefato oficial e auditável.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342900" y="4113461"/>
            <a:ext cx="8458200" cy="52035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32" name="Text 28"/>
          <p:cNvSpPr/>
          <p:nvPr/>
        </p:nvSpPr>
        <p:spPr>
          <a:xfrm>
            <a:off x="485775" y="4157607"/>
            <a:ext cx="1714500" cy="432029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Sequência recomendada</a:t>
            </a:r>
            <a:endParaRPr lang="en-US" sz="1350" dirty="0"/>
          </a:p>
        </p:txBody>
      </p:sp>
      <p:sp>
        <p:nvSpPr>
          <p:cNvPr id="33" name="Text 29"/>
          <p:cNvSpPr/>
          <p:nvPr/>
        </p:nvSpPr>
        <p:spPr>
          <a:xfrm>
            <a:off x="2343150" y="4177754"/>
            <a:ext cx="1493044" cy="152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Formalizar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2343150" y="4363687"/>
            <a:ext cx="133409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75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regras, papéis e templates.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3950494" y="4177754"/>
            <a:ext cx="1493044" cy="152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Medir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3950494" y="4363687"/>
            <a:ext cx="130194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75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uso, qualidade e tempo de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3950494" y="4501428"/>
            <a:ext cx="260747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75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ciclo.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5557838" y="4177754"/>
            <a:ext cx="1493044" cy="152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Integrar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557838" y="4363687"/>
            <a:ext cx="118764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75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pareceres ao rito oficial.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7165181" y="4177754"/>
            <a:ext cx="1493044" cy="152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Evoluir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7165181" y="4363687"/>
            <a:ext cx="1289447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75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critérios e controles de IA.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342900" y="4690960"/>
            <a:ext cx="8458200" cy="198239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Mensagem-chave: maturidade dos agentes deve crescer junto com governança, métricas e responsabilidade institucional.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4350" y="357188"/>
            <a:ext cx="81153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BASE DE VALIDAÇÃO TÉCNICA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14350" y="592931"/>
            <a:ext cx="6715125" cy="304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9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Referências técnicas essenciais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514350" y="1025547"/>
            <a:ext cx="7429500" cy="370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52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proposta foi estruturada com referências oficiais, normativas e acadêmicas para sustentar governança de IA, segurança de LLMs, RAG, privacidade e gestão responsável de riscos.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14350" y="1888768"/>
            <a:ext cx="3986213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GOVERNANÇA E GESTÃO DE RISCO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514350" y="2151301"/>
            <a:ext cx="800100" cy="610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8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NIST AI RMF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443038" y="2151301"/>
            <a:ext cx="3057525" cy="296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Artificial Intelligence Risk Management Framework e Generative AI Profile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443038" y="2490462"/>
            <a:ext cx="3057525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Referência para mapear, medir, gerenciar e governar riscos de IA, incluindo controles específicos para IA generativa.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514350" y="2883703"/>
            <a:ext cx="800100" cy="462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8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ISO/IEC 42001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443038" y="2883703"/>
            <a:ext cx="3057525" cy="1481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Sistema de gestão para inteligência artificial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443038" y="3074715"/>
            <a:ext cx="3057525" cy="27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para institucionalizar políticas, papéis, controles, ciclo de melhoria e responsabilidade organizacional em IA.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4643438" y="1888768"/>
            <a:ext cx="3986213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LLMS, SEGURANÇA, RAG E PRIVACIDADE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4643438" y="2151301"/>
            <a:ext cx="800100" cy="746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8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OWASP LLM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572125" y="2151301"/>
            <a:ext cx="3057525" cy="296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OWASP Top 10 for Large Language Model Applications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572125" y="2490462"/>
            <a:ext cx="3057525" cy="407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Referência prática para tratar riscos como </a:t>
            </a:r>
            <a:r>
              <a:rPr lang="en-US" sz="700" b="1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prompt injection</a:t>
            </a: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vazamento de informação, agência excessiva e dependência </a:t>
            </a: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indevida.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4643438" y="3019602"/>
            <a:ext cx="800100" cy="746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800" b="1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RAG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572125" y="3019602"/>
            <a:ext cx="3057525" cy="296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b="1" dirty="0">
                <a:solidFill>
                  <a:srgbClr val="11182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Retrieval-Augmented Generation for Knowledge-Intensive NLP Tasks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5572125" y="3358762"/>
            <a:ext cx="3057525" cy="407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Fundamento acadêmico para conectar geração por LLM a fontes recuperadas, melhorando contextualização e rastreabilidade.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14350" y="3952196"/>
            <a:ext cx="8115300" cy="57150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22" name="Text 18"/>
          <p:cNvSpPr/>
          <p:nvPr/>
        </p:nvSpPr>
        <p:spPr>
          <a:xfrm>
            <a:off x="657225" y="4021931"/>
            <a:ext cx="2035969" cy="432029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Como usar as referências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2836069" y="4034963"/>
            <a:ext cx="1797825" cy="1531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Critérios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2836069" y="4229184"/>
            <a:ext cx="171985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converter fontes em checklists por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2836069" y="4369882"/>
            <a:ext cx="9501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domínio de agente.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4762481" y="4034963"/>
            <a:ext cx="1797853" cy="1531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Controles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762481" y="4229184"/>
            <a:ext cx="155198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mapear riscos para validações,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4762481" y="4369882"/>
            <a:ext cx="125372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limites e revisão humana.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6688922" y="4034963"/>
            <a:ext cx="1797853" cy="1531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Auditoria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688922" y="4229184"/>
            <a:ext cx="151090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registrar evidências, lacunas e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6688922" y="4369882"/>
            <a:ext cx="153412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5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decisões com base verificável.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514350" y="4609421"/>
            <a:ext cx="8115300" cy="190119"/>
          </a:xfrm>
          <a:prstGeom prst="rect">
            <a:avLst/>
          </a:prstGeom>
          <a:noFill/>
          <a:ln/>
        </p:spPr>
        <p:txBody>
          <a:bodyPr wrap="square" lIns="0" tIns="76581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Principais fontes: NIST AI RMF e GenAI Profile; ISO/IEC 42001; OWASP Top 10 for LLM Applications; Lewis et al. sobre RAG; Lei nº 13.709/2018; orientações públicas da ANPD.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7213" y="1764088"/>
            <a:ext cx="422301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EAF1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ENCERRAMENTO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57213" y="2042694"/>
            <a:ext cx="4223017" cy="4937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6800"/>
              </a:lnSpc>
              <a:buNone/>
            </a:pPr>
            <a:r>
              <a:rPr lang="en-US" sz="3750" b="1" spc="-2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Obrigado</a:t>
            </a:r>
            <a:endParaRPr lang="en-US" sz="3750" dirty="0"/>
          </a:p>
        </p:txBody>
      </p:sp>
      <p:sp>
        <p:nvSpPr>
          <p:cNvPr id="6" name="Text 2"/>
          <p:cNvSpPr/>
          <p:nvPr/>
        </p:nvSpPr>
        <p:spPr>
          <a:xfrm>
            <a:off x="557213" y="2736475"/>
            <a:ext cx="4071938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1250" dirty="0">
                <a:solidFill>
                  <a:srgbClr val="EAF1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Agentes pareceristas devem acelerar a análise, preservar a governança e ampliar a qualidade da decisão institucional.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4780229" y="671680"/>
            <a:ext cx="3820818" cy="4214450"/>
          </a:xfrm>
          <a:prstGeom prst="rect">
            <a:avLst/>
          </a:prstGeom>
          <a:solidFill>
            <a:srgbClr val="FFFFFF"/>
          </a:solidFill>
          <a:ln w="18288">
            <a:solidFill>
              <a:srgbClr val="CBD5E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123129" y="986005"/>
            <a:ext cx="3163593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AUTOR E APRESENTAÇÃO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5123129" y="1198531"/>
            <a:ext cx="3163593" cy="2931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900" b="1" spc="-1" kern="0" dirty="0">
                <a:solidFill>
                  <a:srgbClr val="0033A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Everton R Martins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5123129" y="1620292"/>
            <a:ext cx="300037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Especialista em IA, arquitetura de soluções, governança técnica e aplicação responsável de agentes inteligentes em processos corporativos.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123129" y="2531120"/>
            <a:ext cx="316359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057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CONTATO E CONTINUIDADE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5123129" y="2752576"/>
            <a:ext cx="3163593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LinkedIn: Everton R Martins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123129" y="2997584"/>
            <a:ext cx="3163593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Discussão técnica, evolução do framework e próximos passos de adoção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123129" y="3473314"/>
            <a:ext cx="2928938" cy="441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 material foi estruturado para apoiar comunicação executiva, documentação em Confluence e evolução governada dos Agentes Pareceristas de Arquitetura.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5123129" y="4128892"/>
            <a:ext cx="3163593" cy="542925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16" name="Text 12"/>
          <p:cNvSpPr/>
          <p:nvPr/>
        </p:nvSpPr>
        <p:spPr>
          <a:xfrm>
            <a:off x="5294579" y="4246066"/>
            <a:ext cx="647040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com governança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941619" y="4246066"/>
            <a:ext cx="2173653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EA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apoio à decisão, não substituição da responsabilidade humana.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5123129" y="4671817"/>
            <a:ext cx="3163593" cy="200025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Pareceristas de Arquitetura · Encerramento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2026-06-01T13:48:39Z</dcterms:created>
  <dcterms:modified xsi:type="dcterms:W3CDTF">2026-06-01T13:48:39Z</dcterms:modified>
</cp:coreProperties>
</file>